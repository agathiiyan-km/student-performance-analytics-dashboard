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6" r:id="rId8"/>
    <p:sldId id="261" r:id="rId9"/>
    <p:sldId id="267" r:id="rId10"/>
    <p:sldId id="262" r:id="rId11"/>
    <p:sldId id="263" r:id="rId12"/>
    <p:sldId id="264" r:id="rId13"/>
    <p:sldId id="265" r:id="rId14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273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C3798-62BD-C828-A800-C7387750D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68577-8645-D221-EF63-203DBC437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6A8DE-C77C-A596-E08A-1D7EBB4C4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0ADB0-384B-1A61-A0FE-0DE9259C8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68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DAE05-BBB6-59B4-9466-939146751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E3C84-2E4F-65E4-5E3B-29948DDF8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4571F-A9F5-ACBD-74A9-0BE04CC88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CB2A2-C620-245B-6420-589EA33322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49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4F89A-C8C9-6423-2072-5C459D74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4E6FC-D757-EBF2-8C5C-5A3F094C2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7A2F0-3C4B-1A1A-F024-3E3F848E9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85BF0-4FF0-BEBB-A496-1BC935248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60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76676FC-BDB0-7E74-82B1-D53510872238}"/>
              </a:ext>
            </a:extLst>
          </p:cNvPr>
          <p:cNvGrpSpPr/>
          <p:nvPr/>
        </p:nvGrpSpPr>
        <p:grpSpPr>
          <a:xfrm>
            <a:off x="0" y="2938982"/>
            <a:ext cx="9144000" cy="2351636"/>
            <a:chOff x="0" y="873632"/>
            <a:chExt cx="9144000" cy="2351636"/>
          </a:xfrm>
        </p:grpSpPr>
        <p:sp>
          <p:nvSpPr>
            <p:cNvPr id="3" name="Text 0"/>
            <p:cNvSpPr/>
            <p:nvPr/>
          </p:nvSpPr>
          <p:spPr>
            <a:xfrm>
              <a:off x="0" y="873632"/>
              <a:ext cx="9144000" cy="659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5500"/>
                </a:lnSpc>
                <a:buNone/>
              </a:pPr>
              <a:r>
                <a:rPr lang="en-US" sz="44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Syne Bold" pitchFamily="34" charset="-122"/>
                  <a:cs typeface="Times New Roman" panose="02020603050405020304" pitchFamily="18" charset="0"/>
                </a:rPr>
                <a:t>~ Student Performance Analysis ~</a:t>
              </a:r>
              <a:endParaRPr lang="en-US" sz="4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 2"/>
            <p:cNvSpPr/>
            <p:nvPr/>
          </p:nvSpPr>
          <p:spPr>
            <a:xfrm>
              <a:off x="733552" y="1954761"/>
              <a:ext cx="7468553" cy="12705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000" b="1" dirty="0">
                  <a:solidFill>
                    <a:srgbClr val="D9E1FF"/>
                  </a:solidFill>
                  <a:latin typeface="Times New Roman" panose="02020603050405020304" pitchFamily="18" charset="0"/>
                  <a:ea typeface="Arimo" pitchFamily="34" charset="-122"/>
                  <a:cs typeface="Times New Roman" panose="02020603050405020304" pitchFamily="18" charset="0"/>
                </a:rPr>
                <a:t>Dataset:</a:t>
              </a:r>
              <a:r>
                <a:rPr lang="en-US" sz="2000" dirty="0">
                  <a:solidFill>
                    <a:srgbClr val="D9E1FF"/>
                  </a:solidFill>
                  <a:latin typeface="Times New Roman" panose="02020603050405020304" pitchFamily="18" charset="0"/>
                  <a:ea typeface="Arimo" pitchFamily="34" charset="-122"/>
                  <a:cs typeface="Times New Roman" panose="02020603050405020304" pitchFamily="18" charset="0"/>
                </a:rPr>
                <a:t> Student Performance in Exams 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000" b="1" dirty="0">
                  <a:solidFill>
                    <a:srgbClr val="D9E1FF"/>
                  </a:solidFill>
                  <a:latin typeface="Times New Roman" panose="02020603050405020304" pitchFamily="18" charset="0"/>
                  <a:ea typeface="Arimo" pitchFamily="34" charset="-122"/>
                  <a:cs typeface="Times New Roman" panose="02020603050405020304" pitchFamily="18" charset="0"/>
                </a:rPr>
                <a:t>Tools:</a:t>
              </a:r>
              <a:r>
                <a:rPr lang="en-US" sz="2000" dirty="0">
                  <a:solidFill>
                    <a:srgbClr val="D9E1FF"/>
                  </a:solidFill>
                  <a:latin typeface="Times New Roman" panose="02020603050405020304" pitchFamily="18" charset="0"/>
                  <a:ea typeface="Arimo" pitchFamily="34" charset="-122"/>
                  <a:cs typeface="Times New Roman" panose="02020603050405020304" pitchFamily="18" charset="0"/>
                </a:rPr>
                <a:t> Excel, Power BI </a:t>
              </a: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000" b="1" dirty="0">
                  <a:solidFill>
                    <a:srgbClr val="D9E1FF"/>
                  </a:solidFill>
                  <a:latin typeface="Times New Roman" panose="02020603050405020304" pitchFamily="18" charset="0"/>
                  <a:ea typeface="Arimo" pitchFamily="34" charset="-122"/>
                  <a:cs typeface="Times New Roman" panose="02020603050405020304" pitchFamily="18" charset="0"/>
                </a:rPr>
                <a:t>Focus:</a:t>
              </a:r>
              <a:r>
                <a:rPr lang="en-US" sz="2000" dirty="0">
                  <a:solidFill>
                    <a:srgbClr val="D9E1FF"/>
                  </a:solidFill>
                  <a:latin typeface="Times New Roman" panose="02020603050405020304" pitchFamily="18" charset="0"/>
                  <a:ea typeface="Arimo" pitchFamily="34" charset="-122"/>
                  <a:cs typeface="Times New Roman" panose="02020603050405020304" pitchFamily="18" charset="0"/>
                </a:rPr>
                <a:t> Performance trends and influencing factors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0616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Project Objective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37724" y="1888927"/>
            <a:ext cx="6357818" cy="2697599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77039" y="2128242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4445" y="2325648"/>
            <a:ext cx="323136" cy="323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7039" y="3085624"/>
            <a:ext cx="33632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Analyze Performance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77039" y="3581162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Examine student scores in mathematics, reading, and writing subjects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34858" y="1888927"/>
            <a:ext cx="6357818" cy="2697599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674173" y="2128242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1579" y="2325648"/>
            <a:ext cx="323136" cy="323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74173" y="30856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Identify Factors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674173" y="3581162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Determine key variables influencing academic outcomes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37724" y="4825841"/>
            <a:ext cx="6357818" cy="2697599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077039" y="5065157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4445" y="5262563"/>
            <a:ext cx="323136" cy="3231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7039" y="60225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Compare Groups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077039" y="6518077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Compare results across gender, lunch type, and test preparation status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434858" y="4825841"/>
            <a:ext cx="6357818" cy="2697599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674173" y="5065157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1579" y="5262563"/>
            <a:ext cx="323136" cy="3231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74173" y="6022538"/>
            <a:ext cx="327457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Recommend Actions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674173" y="6518077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Provide data-driven recommendations for improvement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5A65EA-3B13-C576-F14D-0B3B17C125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258" y="7685590"/>
            <a:ext cx="1921397" cy="532435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3616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Dataset Overview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353389"/>
            <a:ext cx="8216265" cy="4585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5491" y="2038469"/>
            <a:ext cx="367938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Dataset Characteristics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45491" y="2629733"/>
            <a:ext cx="4154686" cy="123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500 student records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Clean dataset with no missing values or duplicates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45491" y="410182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Key Variables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45491" y="4693087"/>
            <a:ext cx="4154686" cy="2716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Gender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Lunch type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Test preparation completion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Mathematics scores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Reading scores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Writing scores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4524A8-61E4-7E0C-A124-3E3CFDDE54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258" y="7685590"/>
            <a:ext cx="1921397" cy="532435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5108" y="196721"/>
            <a:ext cx="7710130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Test Preparation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4CAA5-7833-35CD-2E64-65D7360F05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258" y="7685590"/>
            <a:ext cx="1921397" cy="532435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B72DF4-BEEC-A1C2-0134-472E015FC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71" y="899664"/>
            <a:ext cx="11867482" cy="6834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1DB8-429F-8F93-D13E-2EC3E84F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A927C3F-EC6A-8C6B-7F6C-7FEBD39367D5}"/>
              </a:ext>
            </a:extLst>
          </p:cNvPr>
          <p:cNvSpPr/>
          <p:nvPr/>
        </p:nvSpPr>
        <p:spPr>
          <a:xfrm>
            <a:off x="178810" y="1865007"/>
            <a:ext cx="3149084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Key Findings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8D49EB-0078-3812-6D72-DD86406464F5}"/>
              </a:ext>
            </a:extLst>
          </p:cNvPr>
          <p:cNvSpPr/>
          <p:nvPr/>
        </p:nvSpPr>
        <p:spPr>
          <a:xfrm>
            <a:off x="178810" y="2466392"/>
            <a:ext cx="5133970" cy="308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Students who completed test preparation programs scored </a:t>
            </a:r>
            <a:r>
              <a:rPr lang="en-US" sz="2800" b="1" dirty="0">
                <a:solidFill>
                  <a:srgbClr val="806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10–15 marks higher</a:t>
            </a:r>
            <a:r>
              <a:rPr lang="en-US" sz="28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than those who did not prepare.</a:t>
            </a:r>
          </a:p>
          <a:p>
            <a:pPr algn="just"/>
            <a:endParaRPr lang="en-US" sz="2800" dirty="0">
              <a:solidFill>
                <a:srgbClr val="D9E1FF"/>
              </a:solidFill>
              <a:latin typeface="Times New Roman" panose="02020603050405020304" pitchFamily="18" charset="0"/>
              <a:ea typeface="Arimo" pitchFamily="34" charset="-122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This improvement was consistent across all three subjects demonstrating the value of structured academic preparation.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5BD392-4721-D106-235A-93713771A9D1}"/>
              </a:ext>
            </a:extLst>
          </p:cNvPr>
          <p:cNvGrpSpPr/>
          <p:nvPr/>
        </p:nvGrpSpPr>
        <p:grpSpPr>
          <a:xfrm>
            <a:off x="5735414" y="7176529"/>
            <a:ext cx="8342231" cy="689610"/>
            <a:chOff x="6279424" y="7292276"/>
            <a:chExt cx="8342231" cy="689610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27F6F117-DEAE-A4BF-3C80-F0945BEBC71B}"/>
                </a:ext>
              </a:extLst>
            </p:cNvPr>
            <p:cNvSpPr/>
            <p:nvPr/>
          </p:nvSpPr>
          <p:spPr>
            <a:xfrm>
              <a:off x="6553945" y="7292276"/>
              <a:ext cx="8067710" cy="689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2800" i="1" dirty="0">
                  <a:solidFill>
                    <a:srgbClr val="D9E1FF"/>
                  </a:solidFill>
                  <a:latin typeface="Times New Roman" panose="02020603050405020304" pitchFamily="18" charset="0"/>
                  <a:ea typeface="Arimo" pitchFamily="34" charset="-122"/>
                  <a:cs typeface="Times New Roman" panose="02020603050405020304" pitchFamily="18" charset="0"/>
                </a:rPr>
                <a:t>Academic preparation strongly improves performance </a:t>
              </a:r>
              <a:br>
                <a:rPr lang="en-US" sz="2800" i="1" dirty="0">
                  <a:solidFill>
                    <a:srgbClr val="D9E1FF"/>
                  </a:solidFill>
                  <a:latin typeface="Times New Roman" panose="02020603050405020304" pitchFamily="18" charset="0"/>
                  <a:ea typeface="Arimo" pitchFamily="34" charset="-122"/>
                  <a:cs typeface="Times New Roman" panose="02020603050405020304" pitchFamily="18" charset="0"/>
                </a:rPr>
              </a:br>
              <a:r>
                <a:rPr lang="en-US" sz="2800" i="1" dirty="0">
                  <a:solidFill>
                    <a:srgbClr val="D9E1FF"/>
                  </a:solidFill>
                  <a:latin typeface="Times New Roman" panose="02020603050405020304" pitchFamily="18" charset="0"/>
                  <a:ea typeface="Arimo" pitchFamily="34" charset="-122"/>
                  <a:cs typeface="Times New Roman" panose="02020603050405020304" pitchFamily="18" charset="0"/>
                </a:rPr>
                <a:t>across all subject areas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596B9461-7AEB-104D-E639-1F2F25C7BE2E}"/>
                </a:ext>
              </a:extLst>
            </p:cNvPr>
            <p:cNvSpPr/>
            <p:nvPr/>
          </p:nvSpPr>
          <p:spPr>
            <a:xfrm>
              <a:off x="6279424" y="7317041"/>
              <a:ext cx="30480" cy="640080"/>
            </a:xfrm>
            <a:prstGeom prst="rect">
              <a:avLst/>
            </a:prstGeom>
            <a:solidFill>
              <a:srgbClr val="8061FF"/>
            </a:solidFill>
            <a:ln/>
          </p:spPr>
          <p:txBody>
            <a:bodyPr/>
            <a:lstStyle/>
            <a:p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26317F4-126B-D1AD-08F2-10B513B3F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258" y="7685590"/>
            <a:ext cx="1921397" cy="532435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E4119888-9333-3DCB-C4B8-980912A1372B}"/>
              </a:ext>
            </a:extLst>
          </p:cNvPr>
          <p:cNvSpPr/>
          <p:nvPr/>
        </p:nvSpPr>
        <p:spPr>
          <a:xfrm>
            <a:off x="225108" y="196721"/>
            <a:ext cx="7710130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Test Preparation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0EEE50-A1D3-1736-480E-2FF62B731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743" y="1246069"/>
            <a:ext cx="8639526" cy="497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22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6864" y="223824"/>
            <a:ext cx="3294438" cy="66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Lunch Factor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67C01-DD45-2598-2C9F-2AB577E539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258" y="7685590"/>
            <a:ext cx="1921397" cy="532435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4EF0A56-0CD8-FE3D-275C-EA779E3CF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045" y="1018572"/>
            <a:ext cx="12050309" cy="68946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259C3-0235-943E-072E-F57A096D4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BA2F36AC-AED3-6891-2EBA-3D794C8E7201}"/>
              </a:ext>
            </a:extLst>
          </p:cNvPr>
          <p:cNvSpPr/>
          <p:nvPr/>
        </p:nvSpPr>
        <p:spPr>
          <a:xfrm>
            <a:off x="6787112" y="1619125"/>
            <a:ext cx="7468553" cy="1689021"/>
          </a:xfrm>
          <a:prstGeom prst="roundRect">
            <a:avLst>
              <a:gd name="adj" fmla="val 8662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8F0BD67-AB69-13A6-9B40-D4EC2C69609D}"/>
              </a:ext>
            </a:extLst>
          </p:cNvPr>
          <p:cNvSpPr/>
          <p:nvPr/>
        </p:nvSpPr>
        <p:spPr>
          <a:xfrm>
            <a:off x="6756632" y="1619125"/>
            <a:ext cx="121920" cy="1689021"/>
          </a:xfrm>
          <a:prstGeom prst="roundRect">
            <a:avLst>
              <a:gd name="adj" fmla="val 27979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226F7D4-3C4E-2D52-A218-5F70A5F97521}"/>
              </a:ext>
            </a:extLst>
          </p:cNvPr>
          <p:cNvSpPr/>
          <p:nvPr/>
        </p:nvSpPr>
        <p:spPr>
          <a:xfrm>
            <a:off x="7136441" y="1877015"/>
            <a:ext cx="3352205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Standard Lunch Group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119F417-6DFE-2D07-BD57-6D72AF09E380}"/>
              </a:ext>
            </a:extLst>
          </p:cNvPr>
          <p:cNvSpPr/>
          <p:nvPr/>
        </p:nvSpPr>
        <p:spPr>
          <a:xfrm>
            <a:off x="7136441" y="2340882"/>
            <a:ext cx="6861334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Students with standard lunch scored </a:t>
            </a:r>
            <a:r>
              <a:rPr lang="en-US" sz="2400" b="1" dirty="0">
                <a:solidFill>
                  <a:srgbClr val="806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8–12 marks higher</a:t>
            </a: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across all subjects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2A12880-5D24-8058-6DF8-9241CDFCF804}"/>
              </a:ext>
            </a:extLst>
          </p:cNvPr>
          <p:cNvSpPr/>
          <p:nvPr/>
        </p:nvSpPr>
        <p:spPr>
          <a:xfrm>
            <a:off x="6787112" y="4519548"/>
            <a:ext cx="7468553" cy="1689021"/>
          </a:xfrm>
          <a:prstGeom prst="roundRect">
            <a:avLst>
              <a:gd name="adj" fmla="val 8662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F745688-E24D-A57E-18F8-ECFB1326D976}"/>
              </a:ext>
            </a:extLst>
          </p:cNvPr>
          <p:cNvSpPr/>
          <p:nvPr/>
        </p:nvSpPr>
        <p:spPr>
          <a:xfrm>
            <a:off x="6756632" y="4519548"/>
            <a:ext cx="121920" cy="1689021"/>
          </a:xfrm>
          <a:prstGeom prst="roundRect">
            <a:avLst>
              <a:gd name="adj" fmla="val 27979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F4D9F9A-FC13-4330-A112-05FC11A7B92F}"/>
              </a:ext>
            </a:extLst>
          </p:cNvPr>
          <p:cNvSpPr/>
          <p:nvPr/>
        </p:nvSpPr>
        <p:spPr>
          <a:xfrm>
            <a:off x="7136441" y="4777438"/>
            <a:ext cx="4110990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Free/Reduced Lunch Group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A0A602B-52C1-5FFB-EE94-EBD7D6DEC53D}"/>
              </a:ext>
            </a:extLst>
          </p:cNvPr>
          <p:cNvSpPr/>
          <p:nvPr/>
        </p:nvSpPr>
        <p:spPr>
          <a:xfrm>
            <a:off x="7136441" y="5241305"/>
            <a:ext cx="6861334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Lower scores observed, highlighting the impact of resource access on academic performance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65092E6-F92F-F136-4B65-C8D6F12DF7C4}"/>
              </a:ext>
            </a:extLst>
          </p:cNvPr>
          <p:cNvSpPr/>
          <p:nvPr/>
        </p:nvSpPr>
        <p:spPr>
          <a:xfrm>
            <a:off x="616540" y="6775904"/>
            <a:ext cx="7127438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i="1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Access to adequate resources and nutrition significantly affects academic performance and student outcomes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A0EC1DB-C2F6-8BD5-E599-01694B9EAD55}"/>
              </a:ext>
            </a:extLst>
          </p:cNvPr>
          <p:cNvSpPr/>
          <p:nvPr/>
        </p:nvSpPr>
        <p:spPr>
          <a:xfrm>
            <a:off x="446085" y="6775904"/>
            <a:ext cx="45719" cy="841894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67EF12-95E0-773A-E9F2-DB465B22D9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258" y="7685590"/>
            <a:ext cx="1921397" cy="532435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91DF66A-557C-BC27-92F9-4992E6850806}"/>
              </a:ext>
            </a:extLst>
          </p:cNvPr>
          <p:cNvSpPr/>
          <p:nvPr/>
        </p:nvSpPr>
        <p:spPr>
          <a:xfrm>
            <a:off x="316864" y="223824"/>
            <a:ext cx="3294438" cy="66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Lunch Factor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071592-1F58-AF82-987E-DF170F83C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89" y="2020279"/>
            <a:ext cx="6338520" cy="362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068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0565" y="173474"/>
            <a:ext cx="7468553" cy="133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Gender-Based Performance Patterns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4E533-1441-7B2E-5ACC-483516A395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258" y="7685590"/>
            <a:ext cx="1921397" cy="532435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AA256FF-B9A7-EE7A-44E5-8A6779599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741" y="1138855"/>
            <a:ext cx="11069595" cy="63731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E1D9E-1D7B-D554-DE2F-2B03D9A3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393E804-CBEC-DCBC-D6AD-295DB720F355}"/>
              </a:ext>
            </a:extLst>
          </p:cNvPr>
          <p:cNvSpPr/>
          <p:nvPr/>
        </p:nvSpPr>
        <p:spPr>
          <a:xfrm>
            <a:off x="270565" y="173474"/>
            <a:ext cx="7468553" cy="133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Gender-Based Performance Patterns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647B010-4961-1A20-D96A-32A9D32E27AB}"/>
              </a:ext>
            </a:extLst>
          </p:cNvPr>
          <p:cNvSpPr/>
          <p:nvPr/>
        </p:nvSpPr>
        <p:spPr>
          <a:xfrm>
            <a:off x="10009958" y="1453254"/>
            <a:ext cx="3210520" cy="401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Male Students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37BE0C1-2892-9346-5D64-37E6068733DE}"/>
              </a:ext>
            </a:extLst>
          </p:cNvPr>
          <p:cNvSpPr/>
          <p:nvPr/>
        </p:nvSpPr>
        <p:spPr>
          <a:xfrm>
            <a:off x="10009958" y="2070593"/>
            <a:ext cx="3456861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Stronger performance in </a:t>
            </a:r>
            <a:r>
              <a:rPr lang="en-US" sz="2000" b="1" dirty="0">
                <a:solidFill>
                  <a:srgbClr val="806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mathematics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6F91799-D7FB-9CFA-2222-45B71EF8E4D5}"/>
              </a:ext>
            </a:extLst>
          </p:cNvPr>
          <p:cNvSpPr/>
          <p:nvPr/>
        </p:nvSpPr>
        <p:spPr>
          <a:xfrm>
            <a:off x="10009958" y="2974396"/>
            <a:ext cx="3456861" cy="106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Higher average scores in quantitative reasoning and problem-solving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98EBD81-D15E-6F63-7F1A-88E8DDD70762}"/>
              </a:ext>
            </a:extLst>
          </p:cNvPr>
          <p:cNvSpPr/>
          <p:nvPr/>
        </p:nvSpPr>
        <p:spPr>
          <a:xfrm>
            <a:off x="10066021" y="5220475"/>
            <a:ext cx="3210520" cy="401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Female Students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1C48802-B6B8-68D2-F515-612978E4CC91}"/>
              </a:ext>
            </a:extLst>
          </p:cNvPr>
          <p:cNvSpPr/>
          <p:nvPr/>
        </p:nvSpPr>
        <p:spPr>
          <a:xfrm>
            <a:off x="10066021" y="5837814"/>
            <a:ext cx="3456861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Stronger performance in </a:t>
            </a:r>
            <a:r>
              <a:rPr lang="en-US" sz="2000" b="1" dirty="0">
                <a:solidFill>
                  <a:srgbClr val="806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reading and writing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D97E96F-25BD-EDB6-E072-4727710928C4}"/>
              </a:ext>
            </a:extLst>
          </p:cNvPr>
          <p:cNvSpPr/>
          <p:nvPr/>
        </p:nvSpPr>
        <p:spPr>
          <a:xfrm>
            <a:off x="10066021" y="6741617"/>
            <a:ext cx="3456861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Higher average scores in verbal and composition tasks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27FC4BA-0048-84D9-81D2-93D9A517E457}"/>
              </a:ext>
            </a:extLst>
          </p:cNvPr>
          <p:cNvSpPr/>
          <p:nvPr/>
        </p:nvSpPr>
        <p:spPr>
          <a:xfrm>
            <a:off x="270565" y="6274415"/>
            <a:ext cx="7468553" cy="1644968"/>
          </a:xfrm>
          <a:prstGeom prst="roundRect">
            <a:avLst>
              <a:gd name="adj" fmla="val 2074"/>
            </a:avLst>
          </a:prstGeom>
          <a:solidFill>
            <a:srgbClr val="0F004D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10AD40BD-3642-8174-C1BF-D3926918F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74" y="6611005"/>
            <a:ext cx="284202" cy="227409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7AE42E98-65A5-BBBF-1153-A84FE6F6F7CB}"/>
              </a:ext>
            </a:extLst>
          </p:cNvPr>
          <p:cNvSpPr/>
          <p:nvPr/>
        </p:nvSpPr>
        <p:spPr>
          <a:xfrm>
            <a:off x="1009586" y="6547188"/>
            <a:ext cx="6502122" cy="106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Key Insight: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Students demonstrate subject-specific strengths that vary by gender, suggesting different learning preferences and cognitive approaches across disciplines.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EBB034-71F6-FFA3-91EF-4F8449FC5E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258" y="7685590"/>
            <a:ext cx="1921397" cy="532435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1B83EB9D-8349-F60D-7130-921775CEC8BE}"/>
              </a:ext>
            </a:extLst>
          </p:cNvPr>
          <p:cNvSpPr/>
          <p:nvPr/>
        </p:nvSpPr>
        <p:spPr>
          <a:xfrm>
            <a:off x="9780985" y="1453254"/>
            <a:ext cx="112157" cy="2585204"/>
          </a:xfrm>
          <a:prstGeom prst="roundRect">
            <a:avLst>
              <a:gd name="adj" fmla="val 27979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DD54C6CE-99B4-4370-3046-AF36586B9483}"/>
              </a:ext>
            </a:extLst>
          </p:cNvPr>
          <p:cNvSpPr/>
          <p:nvPr/>
        </p:nvSpPr>
        <p:spPr>
          <a:xfrm>
            <a:off x="9780985" y="5218831"/>
            <a:ext cx="121920" cy="2586848"/>
          </a:xfrm>
          <a:prstGeom prst="roundRect">
            <a:avLst>
              <a:gd name="adj" fmla="val 27979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8A9AA6-3349-D329-7747-83A4FA843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50" y="1605041"/>
            <a:ext cx="7701216" cy="443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72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511" y="400148"/>
            <a:ext cx="6512243" cy="441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Overall Performance Comparison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6511" y="1145381"/>
            <a:ext cx="2219444" cy="772478"/>
          </a:xfrm>
          <a:prstGeom prst="roundRect">
            <a:avLst>
              <a:gd name="adj" fmla="val 2914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60684" y="1399699"/>
            <a:ext cx="210979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25973" y="1295400"/>
            <a:ext cx="1576030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Reading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25973" y="1630333"/>
            <a:ext cx="1576030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Highest average scores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50964" y="1914049"/>
            <a:ext cx="10947916" cy="7620"/>
          </a:xfrm>
          <a:prstGeom prst="roundRect">
            <a:avLst>
              <a:gd name="adj" fmla="val 295444"/>
            </a:avLst>
          </a:prstGeom>
          <a:solidFill>
            <a:srgbClr val="44426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6511" y="1992868"/>
            <a:ext cx="4439007" cy="772478"/>
          </a:xfrm>
          <a:prstGeom prst="roundRect">
            <a:avLst>
              <a:gd name="adj" fmla="val 2914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70465" y="2247186"/>
            <a:ext cx="210979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45537" y="2142887"/>
            <a:ext cx="1765697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Writing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45537" y="2477820"/>
            <a:ext cx="1918097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Second highest performance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70527" y="2761536"/>
            <a:ext cx="8728353" cy="7620"/>
          </a:xfrm>
          <a:prstGeom prst="roundRect">
            <a:avLst>
              <a:gd name="adj" fmla="val 295444"/>
            </a:avLst>
          </a:prstGeom>
          <a:solidFill>
            <a:srgbClr val="44426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6511" y="2840355"/>
            <a:ext cx="6658689" cy="772478"/>
          </a:xfrm>
          <a:prstGeom prst="roundRect">
            <a:avLst>
              <a:gd name="adj" fmla="val 2914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80366" y="3094673"/>
            <a:ext cx="210979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65219" y="2990374"/>
            <a:ext cx="1542693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Mathematics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65219" y="3325307"/>
            <a:ext cx="1542693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Lowest average scores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365" y="4783103"/>
            <a:ext cx="4423172" cy="586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Mathematics shows the </a:t>
            </a:r>
            <a:r>
              <a:rPr lang="en-US" sz="2400" b="1" dirty="0">
                <a:solidFill>
                  <a:srgbClr val="806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greatest performance gap</a:t>
            </a: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 compared to reading and writing, indicating a need for targeted intervention and additional support in this subject area.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145" y="3824526"/>
            <a:ext cx="6822400" cy="380773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D4343A0-124F-66DB-3F68-EB1BE89960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258" y="7685590"/>
            <a:ext cx="1921397" cy="532435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57099"/>
            <a:ext cx="684133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Key Insights Summary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37724" y="273986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37974" y="2797850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1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5559" y="2822138"/>
            <a:ext cx="375761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Test Preparation Impact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15559" y="3317677"/>
            <a:ext cx="554997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Students who completed test preparation programs showed significant score improvements of 10–15 marks across all subjects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64743" y="273986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64993" y="2797850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2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42578" y="2822138"/>
            <a:ext cx="394192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Socioeconomic Influence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42578" y="3317677"/>
            <a:ext cx="55500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Lunch type and resource access significantly affect performance, with standard lunch students scoring 8–12 marks higher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37724" y="516541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37974" y="5223402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3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15559" y="5247690"/>
            <a:ext cx="411849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Subject-Specific Strengths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15559" y="5743228"/>
            <a:ext cx="55499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Male students excel in mathematics while female students perform better in reading and writing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64743" y="516541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64993" y="5223402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4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42578" y="5247690"/>
            <a:ext cx="28259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Mathematics Gap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42578" y="5743228"/>
            <a:ext cx="55500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Mathematics shows the largest performance gap, requiring focused intervention and additional learning support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2C044E-F218-28EE-A206-3ACF313655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258" y="7685590"/>
            <a:ext cx="1921397" cy="532435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20" descr="Presentation with bar chart outline">
            <a:extLst>
              <a:ext uri="{FF2B5EF4-FFF2-40B4-BE49-F238E27FC236}">
                <a16:creationId xmlns:a16="http://schemas.microsoft.com/office/drawing/2014/main" id="{26999AEC-5C30-D86F-B552-C417E397E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627" y="425439"/>
            <a:ext cx="2263319" cy="22633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565721"/>
            <a:ext cx="4301609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Actionable Strategies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324124" y="1418034"/>
            <a:ext cx="7468553" cy="1578888"/>
          </a:xfrm>
          <a:prstGeom prst="roundRect">
            <a:avLst>
              <a:gd name="adj" fmla="val 147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479619" y="1573530"/>
            <a:ext cx="466725" cy="466725"/>
          </a:xfrm>
          <a:prstGeom prst="roundRect">
            <a:avLst>
              <a:gd name="adj" fmla="val 19589878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7969" y="1701760"/>
            <a:ext cx="210026" cy="2100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29224" y="1736507"/>
            <a:ext cx="2691408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Test Preparation Programs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79619" y="2338061"/>
            <a:ext cx="7157561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Implement structured test preparation programs to help students achieve 10–15 marks higher across all subjects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324124" y="3098006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479619" y="3253502"/>
            <a:ext cx="466725" cy="466725"/>
          </a:xfrm>
          <a:prstGeom prst="roundRect">
            <a:avLst>
              <a:gd name="adj" fmla="val 19589878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7969" y="3381732"/>
            <a:ext cx="210026" cy="2100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29224" y="3370521"/>
            <a:ext cx="3076456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Support Low-Income Students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479619" y="3937011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Provide targeted support for students with free/reduced lunch to address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resource gaps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324124" y="4572595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479619" y="4728091"/>
            <a:ext cx="466725" cy="466725"/>
          </a:xfrm>
          <a:prstGeom prst="roundRect">
            <a:avLst>
              <a:gd name="adj" fmla="val 19589878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7969" y="4856321"/>
            <a:ext cx="210026" cy="21002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29224" y="4864217"/>
            <a:ext cx="312765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Mathematics Learning Support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479619" y="5434751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Strengthen mathematics learning support through tutoring and additional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resources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324124" y="6047184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479619" y="6202680"/>
            <a:ext cx="466725" cy="466725"/>
          </a:xfrm>
          <a:prstGeom prst="roundRect">
            <a:avLst>
              <a:gd name="adj" fmla="val 19589878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7969" y="6330910"/>
            <a:ext cx="210026" cy="21002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29224" y="6330910"/>
            <a:ext cx="2166223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Monitor Performance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6479619" y="6965323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Use data analytics to track student progress and identify at-risk students early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06A72B-E668-6387-DD2C-3F86927D0E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258" y="7685590"/>
            <a:ext cx="1921397" cy="532435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693" y="613410"/>
            <a:ext cx="5248632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Conclusion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93" y="1814989"/>
            <a:ext cx="4220408" cy="56271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2837" y="2144806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Key Takeaways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552837" y="2669010"/>
            <a:ext cx="830437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Student performance is influenced by multiple interconnected factors including test preparation, socioeconomic status, and subject-specific learning patterns.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545336" y="4628555"/>
            <a:ext cx="830437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D9E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Academic support programs and resource access play a crucial role in determining student outcomes. Data-driven strategies can significantly improve educational results.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552837" y="6720494"/>
            <a:ext cx="830437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806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The data reveals clear opportunities for intervention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8061FF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and improvement.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F77C74-3621-CECF-28BA-721BB537C9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00258" y="7685590"/>
            <a:ext cx="1921397" cy="532435"/>
          </a:xfrm>
          <a:prstGeom prst="rect">
            <a:avLst/>
          </a:prstGeom>
          <a:solidFill>
            <a:srgbClr val="0C0A33"/>
          </a:solidFill>
          <a:ln>
            <a:solidFill>
              <a:srgbClr val="0C0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506</Words>
  <Application>Microsoft Office PowerPoint</Application>
  <PresentationFormat>Custom</PresentationFormat>
  <Paragraphs>101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HP 15s</cp:lastModifiedBy>
  <cp:revision>8</cp:revision>
  <dcterms:created xsi:type="dcterms:W3CDTF">2026-03-29T12:59:06Z</dcterms:created>
  <dcterms:modified xsi:type="dcterms:W3CDTF">2026-06-23T04:28:11Z</dcterms:modified>
</cp:coreProperties>
</file>